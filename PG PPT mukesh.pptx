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B34FBD-B2F4-48D2-BCC1-09FF0024145D}" v="6" dt="2026-10-16T13:39:59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 RAMANA" userId="c33168215ff5b39f" providerId="LiveId" clId="{A82ED40B-A058-4586-9992-7C0A3C21F8F0}"/>
    <pc:docChg chg="undo custSel modSld">
      <pc:chgData name="K RAMANA" userId="c33168215ff5b39f" providerId="LiveId" clId="{A82ED40B-A058-4586-9992-7C0A3C21F8F0}" dt="2026-10-16T13:41:01.095" v="91" actId="478"/>
      <pc:docMkLst>
        <pc:docMk/>
      </pc:docMkLst>
      <pc:sldChg chg="addSp delSp modSp mod">
        <pc:chgData name="K RAMANA" userId="c33168215ff5b39f" providerId="LiveId" clId="{A82ED40B-A058-4586-9992-7C0A3C21F8F0}" dt="2026-10-16T13:36:31.165" v="51" actId="14100"/>
        <pc:sldMkLst>
          <pc:docMk/>
          <pc:sldMk cId="0" sldId="256"/>
        </pc:sldMkLst>
        <pc:spChg chg="mod">
          <ac:chgData name="K RAMANA" userId="c33168215ff5b39f" providerId="LiveId" clId="{A82ED40B-A058-4586-9992-7C0A3C21F8F0}" dt="2026-10-16T13:33:38.314" v="31" actId="17032"/>
          <ac:spMkLst>
            <pc:docMk/>
            <pc:sldMk cId="0" sldId="256"/>
            <ac:spMk id="2" creationId="{00000000-0000-0000-0000-000000000000}"/>
          </ac:spMkLst>
        </pc:spChg>
        <pc:spChg chg="mod">
          <ac:chgData name="K RAMANA" userId="c33168215ff5b39f" providerId="LiveId" clId="{A82ED40B-A058-4586-9992-7C0A3C21F8F0}" dt="2026-10-16T13:36:11.164" v="50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K RAMANA" userId="c33168215ff5b39f" providerId="LiveId" clId="{A82ED40B-A058-4586-9992-7C0A3C21F8F0}" dt="2026-10-16T13:32:19.587" v="29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K RAMANA" userId="c33168215ff5b39f" providerId="LiveId" clId="{A82ED40B-A058-4586-9992-7C0A3C21F8F0}" dt="2026-10-16T13:33:59.423" v="32" actId="13822"/>
          <ac:spMkLst>
            <pc:docMk/>
            <pc:sldMk cId="0" sldId="256"/>
            <ac:spMk id="15" creationId="{00000000-0000-0000-0000-000000000000}"/>
          </ac:spMkLst>
        </pc:spChg>
        <pc:picChg chg="del">
          <ac:chgData name="K RAMANA" userId="c33168215ff5b39f" providerId="LiveId" clId="{A82ED40B-A058-4586-9992-7C0A3C21F8F0}" dt="2026-10-16T13:35:08.500" v="35" actId="478"/>
          <ac:picMkLst>
            <pc:docMk/>
            <pc:sldMk cId="0" sldId="256"/>
            <ac:picMk id="16" creationId="{00000000-0000-0000-0000-000000000000}"/>
          </ac:picMkLst>
        </pc:picChg>
        <pc:picChg chg="add mod">
          <ac:chgData name="K RAMANA" userId="c33168215ff5b39f" providerId="LiveId" clId="{A82ED40B-A058-4586-9992-7C0A3C21F8F0}" dt="2026-10-16T13:36:31.165" v="51" actId="14100"/>
          <ac:picMkLst>
            <pc:docMk/>
            <pc:sldMk cId="0" sldId="256"/>
            <ac:picMk id="17" creationId="{014A08CA-6621-CB00-EC00-A41AE4E2BC72}"/>
          </ac:picMkLst>
        </pc:picChg>
      </pc:sldChg>
      <pc:sldChg chg="addSp delSp modSp mod">
        <pc:chgData name="K RAMANA" userId="c33168215ff5b39f" providerId="LiveId" clId="{A82ED40B-A058-4586-9992-7C0A3C21F8F0}" dt="2026-10-16T13:38:31.150" v="67" actId="13926"/>
        <pc:sldMkLst>
          <pc:docMk/>
          <pc:sldMk cId="0" sldId="257"/>
        </pc:sldMkLst>
        <pc:spChg chg="mod">
          <ac:chgData name="K RAMANA" userId="c33168215ff5b39f" providerId="LiveId" clId="{A82ED40B-A058-4586-9992-7C0A3C21F8F0}" dt="2026-10-16T13:37:23.001" v="52" actId="13822"/>
          <ac:spMkLst>
            <pc:docMk/>
            <pc:sldMk cId="0" sldId="257"/>
            <ac:spMk id="2" creationId="{00000000-0000-0000-0000-000000000000}"/>
          </ac:spMkLst>
        </pc:spChg>
        <pc:spChg chg="del">
          <ac:chgData name="K RAMANA" userId="c33168215ff5b39f" providerId="LiveId" clId="{A82ED40B-A058-4586-9992-7C0A3C21F8F0}" dt="2026-10-16T13:37:30.370" v="53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K RAMANA" userId="c33168215ff5b39f" providerId="LiveId" clId="{A82ED40B-A058-4586-9992-7C0A3C21F8F0}" dt="2026-10-16T13:38:31.150" v="67" actId="13926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K RAMANA" userId="c33168215ff5b39f" providerId="LiveId" clId="{A82ED40B-A058-4586-9992-7C0A3C21F8F0}" dt="2026-10-16T13:37:42.409" v="56"/>
          <ac:spMkLst>
            <pc:docMk/>
            <pc:sldMk cId="0" sldId="257"/>
            <ac:spMk id="37" creationId="{E4B7C633-FEA8-2A30-8DFA-E93F79C6E411}"/>
          </ac:spMkLst>
        </pc:spChg>
        <pc:spChg chg="add del mod">
          <ac:chgData name="K RAMANA" userId="c33168215ff5b39f" providerId="LiveId" clId="{A82ED40B-A058-4586-9992-7C0A3C21F8F0}" dt="2026-10-16T13:37:43.978" v="59"/>
          <ac:spMkLst>
            <pc:docMk/>
            <pc:sldMk cId="0" sldId="257"/>
            <ac:spMk id="38" creationId="{4AA41AAA-F003-BECE-0D7D-5C5C1742E015}"/>
          </ac:spMkLst>
        </pc:spChg>
        <pc:spChg chg="add del mod">
          <ac:chgData name="K RAMANA" userId="c33168215ff5b39f" providerId="LiveId" clId="{A82ED40B-A058-4586-9992-7C0A3C21F8F0}" dt="2026-10-16T13:37:53.398" v="62"/>
          <ac:spMkLst>
            <pc:docMk/>
            <pc:sldMk cId="0" sldId="257"/>
            <ac:spMk id="39" creationId="{B7F91419-84E7-D1F9-1CE2-89A5069DFDD3}"/>
          </ac:spMkLst>
        </pc:spChg>
        <pc:spChg chg="add del mod">
          <ac:chgData name="K RAMANA" userId="c33168215ff5b39f" providerId="LiveId" clId="{A82ED40B-A058-4586-9992-7C0A3C21F8F0}" dt="2026-10-16T13:37:57.168" v="65"/>
          <ac:spMkLst>
            <pc:docMk/>
            <pc:sldMk cId="0" sldId="257"/>
            <ac:spMk id="40" creationId="{50EF21FA-A79B-6DE1-CF7B-B978D9713664}"/>
          </ac:spMkLst>
        </pc:spChg>
      </pc:sldChg>
      <pc:sldChg chg="delSp modSp mod">
        <pc:chgData name="K RAMANA" userId="c33168215ff5b39f" providerId="LiveId" clId="{A82ED40B-A058-4586-9992-7C0A3C21F8F0}" dt="2026-10-16T13:41:01.095" v="91" actId="478"/>
        <pc:sldMkLst>
          <pc:docMk/>
          <pc:sldMk cId="0" sldId="258"/>
        </pc:sldMkLst>
        <pc:spChg chg="mod">
          <ac:chgData name="K RAMANA" userId="c33168215ff5b39f" providerId="LiveId" clId="{A82ED40B-A058-4586-9992-7C0A3C21F8F0}" dt="2026-10-16T13:38:49.980" v="68" actId="13822"/>
          <ac:spMkLst>
            <pc:docMk/>
            <pc:sldMk cId="0" sldId="258"/>
            <ac:spMk id="2" creationId="{00000000-0000-0000-0000-000000000000}"/>
          </ac:spMkLst>
        </pc:spChg>
        <pc:spChg chg="del">
          <ac:chgData name="K RAMANA" userId="c33168215ff5b39f" providerId="LiveId" clId="{A82ED40B-A058-4586-9992-7C0A3C21F8F0}" dt="2026-10-16T13:41:01.095" v="91" actId="478"/>
          <ac:spMkLst>
            <pc:docMk/>
            <pc:sldMk cId="0" sldId="258"/>
            <ac:spMk id="3" creationId="{00000000-0000-0000-0000-000000000000}"/>
          </ac:spMkLst>
        </pc:spChg>
      </pc:sldChg>
      <pc:sldChg chg="delSp modSp mod">
        <pc:chgData name="K RAMANA" userId="c33168215ff5b39f" providerId="LiveId" clId="{A82ED40B-A058-4586-9992-7C0A3C21F8F0}" dt="2026-10-16T13:40:45.534" v="89" actId="13822"/>
        <pc:sldMkLst>
          <pc:docMk/>
          <pc:sldMk cId="0" sldId="259"/>
        </pc:sldMkLst>
        <pc:spChg chg="mod">
          <ac:chgData name="K RAMANA" userId="c33168215ff5b39f" providerId="LiveId" clId="{A82ED40B-A058-4586-9992-7C0A3C21F8F0}" dt="2026-10-16T13:40:45.534" v="89" actId="13822"/>
          <ac:spMkLst>
            <pc:docMk/>
            <pc:sldMk cId="0" sldId="259"/>
            <ac:spMk id="2" creationId="{00000000-0000-0000-0000-000000000000}"/>
          </ac:spMkLst>
        </pc:spChg>
        <pc:spChg chg="del">
          <ac:chgData name="K RAMANA" userId="c33168215ff5b39f" providerId="LiveId" clId="{A82ED40B-A058-4586-9992-7C0A3C21F8F0}" dt="2026-10-16T13:40:41.047" v="88" actId="478"/>
          <ac:spMkLst>
            <pc:docMk/>
            <pc:sldMk cId="0" sldId="259"/>
            <ac:spMk id="3" creationId="{00000000-0000-0000-0000-000000000000}"/>
          </ac:spMkLst>
        </pc:spChg>
      </pc:sldChg>
      <pc:sldChg chg="delSp modSp mod">
        <pc:chgData name="K RAMANA" userId="c33168215ff5b39f" providerId="LiveId" clId="{A82ED40B-A058-4586-9992-7C0A3C21F8F0}" dt="2026-10-16T13:40:38.275" v="87" actId="478"/>
        <pc:sldMkLst>
          <pc:docMk/>
          <pc:sldMk cId="0" sldId="260"/>
        </pc:sldMkLst>
        <pc:spChg chg="mod">
          <ac:chgData name="K RAMANA" userId="c33168215ff5b39f" providerId="LiveId" clId="{A82ED40B-A058-4586-9992-7C0A3C21F8F0}" dt="2026-10-16T13:39:09.631" v="70" actId="13822"/>
          <ac:spMkLst>
            <pc:docMk/>
            <pc:sldMk cId="0" sldId="260"/>
            <ac:spMk id="2" creationId="{00000000-0000-0000-0000-000000000000}"/>
          </ac:spMkLst>
        </pc:spChg>
        <pc:spChg chg="del">
          <ac:chgData name="K RAMANA" userId="c33168215ff5b39f" providerId="LiveId" clId="{A82ED40B-A058-4586-9992-7C0A3C21F8F0}" dt="2026-10-16T13:40:38.275" v="87" actId="478"/>
          <ac:spMkLst>
            <pc:docMk/>
            <pc:sldMk cId="0" sldId="260"/>
            <ac:spMk id="3" creationId="{00000000-0000-0000-0000-000000000000}"/>
          </ac:spMkLst>
        </pc:spChg>
      </pc:sldChg>
      <pc:sldChg chg="delSp modSp mod">
        <pc:chgData name="K RAMANA" userId="c33168215ff5b39f" providerId="LiveId" clId="{A82ED40B-A058-4586-9992-7C0A3C21F8F0}" dt="2026-10-16T13:40:35.328" v="86" actId="478"/>
        <pc:sldMkLst>
          <pc:docMk/>
          <pc:sldMk cId="0" sldId="261"/>
        </pc:sldMkLst>
        <pc:spChg chg="mod">
          <ac:chgData name="K RAMANA" userId="c33168215ff5b39f" providerId="LiveId" clId="{A82ED40B-A058-4586-9992-7C0A3C21F8F0}" dt="2026-10-16T13:39:15.118" v="71" actId="13822"/>
          <ac:spMkLst>
            <pc:docMk/>
            <pc:sldMk cId="0" sldId="261"/>
            <ac:spMk id="2" creationId="{00000000-0000-0000-0000-000000000000}"/>
          </ac:spMkLst>
        </pc:spChg>
        <pc:spChg chg="del">
          <ac:chgData name="K RAMANA" userId="c33168215ff5b39f" providerId="LiveId" clId="{A82ED40B-A058-4586-9992-7C0A3C21F8F0}" dt="2026-10-16T13:40:35.328" v="86" actId="478"/>
          <ac:spMkLst>
            <pc:docMk/>
            <pc:sldMk cId="0" sldId="261"/>
            <ac:spMk id="3" creationId="{00000000-0000-0000-0000-000000000000}"/>
          </ac:spMkLst>
        </pc:spChg>
      </pc:sldChg>
      <pc:sldChg chg="delSp modSp mod">
        <pc:chgData name="K RAMANA" userId="c33168215ff5b39f" providerId="LiveId" clId="{A82ED40B-A058-4586-9992-7C0A3C21F8F0}" dt="2026-10-16T13:40:28.042" v="85" actId="13822"/>
        <pc:sldMkLst>
          <pc:docMk/>
          <pc:sldMk cId="0" sldId="262"/>
        </pc:sldMkLst>
        <pc:spChg chg="mod">
          <ac:chgData name="K RAMANA" userId="c33168215ff5b39f" providerId="LiveId" clId="{A82ED40B-A058-4586-9992-7C0A3C21F8F0}" dt="2026-10-16T13:40:28.042" v="85" actId="13822"/>
          <ac:spMkLst>
            <pc:docMk/>
            <pc:sldMk cId="0" sldId="262"/>
            <ac:spMk id="2" creationId="{00000000-0000-0000-0000-000000000000}"/>
          </ac:spMkLst>
        </pc:spChg>
        <pc:spChg chg="del">
          <ac:chgData name="K RAMANA" userId="c33168215ff5b39f" providerId="LiveId" clId="{A82ED40B-A058-4586-9992-7C0A3C21F8F0}" dt="2026-10-16T13:40:22.977" v="84" actId="478"/>
          <ac:spMkLst>
            <pc:docMk/>
            <pc:sldMk cId="0" sldId="262"/>
            <ac:spMk id="3" creationId="{00000000-0000-0000-0000-000000000000}"/>
          </ac:spMkLst>
        </pc:spChg>
      </pc:sldChg>
      <pc:sldChg chg="delSp modSp mod">
        <pc:chgData name="K RAMANA" userId="c33168215ff5b39f" providerId="LiveId" clId="{A82ED40B-A058-4586-9992-7C0A3C21F8F0}" dt="2026-10-16T13:40:15.613" v="82" actId="478"/>
        <pc:sldMkLst>
          <pc:docMk/>
          <pc:sldMk cId="0" sldId="263"/>
        </pc:sldMkLst>
        <pc:spChg chg="mod">
          <ac:chgData name="K RAMANA" userId="c33168215ff5b39f" providerId="LiveId" clId="{A82ED40B-A058-4586-9992-7C0A3C21F8F0}" dt="2026-10-16T13:39:23.409" v="72" actId="13822"/>
          <ac:spMkLst>
            <pc:docMk/>
            <pc:sldMk cId="0" sldId="263"/>
            <ac:spMk id="2" creationId="{00000000-0000-0000-0000-000000000000}"/>
          </ac:spMkLst>
        </pc:spChg>
        <pc:spChg chg="del">
          <ac:chgData name="K RAMANA" userId="c33168215ff5b39f" providerId="LiveId" clId="{A82ED40B-A058-4586-9992-7C0A3C21F8F0}" dt="2026-10-16T13:40:15.613" v="82" actId="478"/>
          <ac:spMkLst>
            <pc:docMk/>
            <pc:sldMk cId="0" sldId="263"/>
            <ac:spMk id="3" creationId="{00000000-0000-0000-0000-000000000000}"/>
          </ac:spMkLst>
        </pc:spChg>
      </pc:sldChg>
      <pc:sldChg chg="delSp modSp mod">
        <pc:chgData name="K RAMANA" userId="c33168215ff5b39f" providerId="LiveId" clId="{A82ED40B-A058-4586-9992-7C0A3C21F8F0}" dt="2026-10-16T13:40:19.095" v="83" actId="478"/>
        <pc:sldMkLst>
          <pc:docMk/>
          <pc:sldMk cId="0" sldId="264"/>
        </pc:sldMkLst>
        <pc:spChg chg="mod">
          <ac:chgData name="K RAMANA" userId="c33168215ff5b39f" providerId="LiveId" clId="{A82ED40B-A058-4586-9992-7C0A3C21F8F0}" dt="2026-10-16T13:39:29.200" v="73" actId="13822"/>
          <ac:spMkLst>
            <pc:docMk/>
            <pc:sldMk cId="0" sldId="264"/>
            <ac:spMk id="2" creationId="{00000000-0000-0000-0000-000000000000}"/>
          </ac:spMkLst>
        </pc:spChg>
        <pc:spChg chg="del">
          <ac:chgData name="K RAMANA" userId="c33168215ff5b39f" providerId="LiveId" clId="{A82ED40B-A058-4586-9992-7C0A3C21F8F0}" dt="2026-10-16T13:40:19.095" v="83" actId="478"/>
          <ac:spMkLst>
            <pc:docMk/>
            <pc:sldMk cId="0" sldId="264"/>
            <ac:spMk id="3" creationId="{00000000-0000-0000-0000-000000000000}"/>
          </ac:spMkLst>
        </pc:spChg>
      </pc:sldChg>
      <pc:sldChg chg="addSp delSp modSp mod">
        <pc:chgData name="K RAMANA" userId="c33168215ff5b39f" providerId="LiveId" clId="{A82ED40B-A058-4586-9992-7C0A3C21F8F0}" dt="2026-10-16T13:40:05.193" v="81" actId="478"/>
        <pc:sldMkLst>
          <pc:docMk/>
          <pc:sldMk cId="0" sldId="265"/>
        </pc:sldMkLst>
        <pc:spChg chg="del mod">
          <ac:chgData name="K RAMANA" userId="c33168215ff5b39f" providerId="LiveId" clId="{A82ED40B-A058-4586-9992-7C0A3C21F8F0}" dt="2026-10-16T13:40:05.193" v="81" actId="478"/>
          <ac:spMkLst>
            <pc:docMk/>
            <pc:sldMk cId="0" sldId="265"/>
            <ac:spMk id="2" creationId="{00000000-0000-0000-0000-000000000000}"/>
          </ac:spMkLst>
        </pc:spChg>
        <pc:spChg chg="add del mod">
          <ac:chgData name="K RAMANA" userId="c33168215ff5b39f" providerId="LiveId" clId="{A82ED40B-A058-4586-9992-7C0A3C21F8F0}" dt="2026-10-16T13:39:41.673" v="76" actId="478"/>
          <ac:spMkLst>
            <pc:docMk/>
            <pc:sldMk cId="0" sldId="265"/>
            <ac:spMk id="3" creationId="{F5A3038F-2363-8CC4-6D10-BC07088AE115}"/>
          </ac:spMkLst>
        </pc:spChg>
        <pc:spChg chg="add del mod">
          <ac:chgData name="K RAMANA" userId="c33168215ff5b39f" providerId="LiveId" clId="{A82ED40B-A058-4586-9992-7C0A3C21F8F0}" dt="2026-10-16T13:40:00.690" v="80" actId="478"/>
          <ac:spMkLst>
            <pc:docMk/>
            <pc:sldMk cId="0" sldId="265"/>
            <ac:spMk id="4" creationId="{9B250B43-F658-AE10-3D8B-C4AA320D1AD6}"/>
          </ac:spMkLst>
        </pc:spChg>
      </pc:sldChg>
      <pc:sldChg chg="delSp modSp mod">
        <pc:chgData name="K RAMANA" userId="c33168215ff5b39f" providerId="LiveId" clId="{A82ED40B-A058-4586-9992-7C0A3C21F8F0}" dt="2026-10-16T13:40:51.609" v="90" actId="478"/>
        <pc:sldMkLst>
          <pc:docMk/>
          <pc:sldMk cId="2660233911" sldId="266"/>
        </pc:sldMkLst>
        <pc:spChg chg="mod">
          <ac:chgData name="K RAMANA" userId="c33168215ff5b39f" providerId="LiveId" clId="{A82ED40B-A058-4586-9992-7C0A3C21F8F0}" dt="2026-10-16T13:39:01.670" v="69" actId="13822"/>
          <ac:spMkLst>
            <pc:docMk/>
            <pc:sldMk cId="2660233911" sldId="266"/>
            <ac:spMk id="2" creationId="{E8638802-A8ED-F4F6-2D65-3C10026BA249}"/>
          </ac:spMkLst>
        </pc:spChg>
        <pc:spChg chg="del">
          <ac:chgData name="K RAMANA" userId="c33168215ff5b39f" providerId="LiveId" clId="{A82ED40B-A058-4586-9992-7C0A3C21F8F0}" dt="2026-10-16T13:40:51.609" v="90" actId="478"/>
          <ac:spMkLst>
            <pc:docMk/>
            <pc:sldMk cId="2660233911" sldId="266"/>
            <ac:spMk id="3" creationId="{98FE4A1C-DBB5-7DFE-EC66-CBD09E2223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0496" y="0"/>
            <a:ext cx="6697048" cy="68580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52120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  <a:latin typeface="Aptos"/>
              </a:rPr>
              <a:t>DATABASE PROJECT  •  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5806440" cy="1417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3100" b="1">
                <a:solidFill>
                  <a:srgbClr val="0D365B"/>
                </a:solidFill>
                <a:latin typeface="Aptos"/>
              </a:rPr>
              <a:t>PG HOSTEL
STUDENT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539496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800" b="0">
                <a:solidFill>
                  <a:srgbClr val="647482"/>
                </a:solidFill>
                <a:latin typeface="Aptos"/>
              </a:rPr>
              <a:t>A practical SQL project for managing rooms, students,
payments and visitor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977639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ECF6FD"/>
          </a:solidFill>
          <a:ln>
            <a:solidFill>
              <a:srgbClr val="ECF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4087368"/>
            <a:ext cx="1572768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>
                <a:solidFill>
                  <a:srgbClr val="0070C0"/>
                </a:solidFill>
                <a:latin typeface="Aptos"/>
              </a:rPr>
              <a:t>Database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15184" y="3977639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ECF6FD"/>
          </a:solidFill>
          <a:ln>
            <a:solidFill>
              <a:srgbClr val="ECF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88336" y="4087368"/>
            <a:ext cx="1572768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>
                <a:solidFill>
                  <a:srgbClr val="1C895C"/>
                </a:solidFill>
                <a:latin typeface="Aptos"/>
              </a:rPr>
              <a:t>SQL queries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17136" y="3977639"/>
            <a:ext cx="1737360" cy="438912"/>
          </a:xfrm>
          <a:prstGeom prst="roundRect">
            <a:avLst>
              <a:gd name="adj" fmla="val 12000"/>
            </a:avLst>
          </a:prstGeom>
          <a:solidFill>
            <a:srgbClr val="ECF6FD"/>
          </a:solidFill>
          <a:ln>
            <a:solidFill>
              <a:srgbClr val="ECF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4087368"/>
            <a:ext cx="1572768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>
                <a:solidFill>
                  <a:srgbClr val="E68E2D"/>
                </a:solidFill>
                <a:latin typeface="Aptos"/>
              </a:rPr>
              <a:t>Reports &amp;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918094"/>
            <a:ext cx="4206240" cy="38779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b="1" dirty="0">
                <a:solidFill>
                  <a:srgbClr val="263442"/>
                </a:solidFill>
                <a:latin typeface="Aptos"/>
              </a:rPr>
              <a:t>Presented by: </a:t>
            </a:r>
            <a:r>
              <a:rPr lang="en-US" b="1" dirty="0">
                <a:solidFill>
                  <a:srgbClr val="263442"/>
                </a:solidFill>
                <a:latin typeface="Aptos"/>
              </a:rPr>
              <a:t> Mukesh </a:t>
            </a:r>
            <a:r>
              <a:rPr lang="en-US" b="1" dirty="0" err="1">
                <a:solidFill>
                  <a:srgbClr val="263442"/>
                </a:solidFill>
                <a:latin typeface="Aptos"/>
              </a:rPr>
              <a:t>Pagoti</a:t>
            </a:r>
            <a:endParaRPr b="1" dirty="0">
              <a:solidFill>
                <a:srgbClr val="263442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967728" y="0"/>
            <a:ext cx="5223967" cy="6858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27080" y="6492240"/>
            <a:ext cx="73152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 dirty="0">
                <a:solidFill>
                  <a:srgbClr val="FFFFFF"/>
                </a:solidFill>
                <a:latin typeface="Aptos"/>
              </a:rPr>
              <a:t>01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4A08CA-6621-CB00-EC00-A41AE4E2B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544" y="0"/>
            <a:ext cx="52544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88136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dirty="0">
                <a:solidFill>
                  <a:srgbClr val="FFFFFF"/>
                </a:solidFill>
                <a:latin typeface="Apto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56248"/>
            <a:ext cx="87782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>
                <a:solidFill>
                  <a:srgbClr val="647482"/>
                </a:solidFill>
                <a:latin typeface="Aptos"/>
              </a:rPr>
              <a:t>02  |  PG HOSTEL STUDENT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28816"/>
            <a:ext cx="54864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 dirty="0">
                <a:solidFill>
                  <a:srgbClr val="0070C0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539496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73152" cy="192024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152144"/>
            <a:ext cx="502920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0D365B"/>
                </a:solidFill>
                <a:latin typeface="Aptos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536192"/>
            <a:ext cx="5029200" cy="1298448"/>
          </a:xfrm>
          <a:prstGeom prst="rect">
            <a:avLst/>
          </a:prstGeom>
          <a:noFill/>
        </p:spPr>
        <p:txBody>
          <a:bodyPr wrap="square" lIns="54864" rIns="45720" bIns="27432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442"/>
                </a:solidFill>
                <a:latin typeface="Aptos"/>
              </a:defRPr>
            </a:pPr>
            <a:r>
              <a:t>Hostel records may be stored in registers or separate files.</a:t>
            </a:r>
          </a:p>
          <a:p>
            <a:pPr>
              <a:spcAft>
                <a:spcPts val="600"/>
              </a:spcAft>
              <a:defRPr sz="1500">
                <a:solidFill>
                  <a:srgbClr val="263442"/>
                </a:solidFill>
                <a:latin typeface="Aptos"/>
              </a:defRPr>
            </a:pPr>
            <a:r>
              <a:t>Manual tracking makes payment follow-up and room lookup harder.</a:t>
            </a:r>
          </a:p>
          <a:p>
            <a:pPr>
              <a:spcAft>
                <a:spcPts val="600"/>
              </a:spcAft>
              <a:defRPr sz="1500">
                <a:solidFill>
                  <a:srgbClr val="263442"/>
                </a:solidFill>
                <a:latin typeface="Aptos"/>
              </a:defRPr>
            </a:pPr>
            <a:r>
              <a:t>A central database keeps related information organised.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05840"/>
            <a:ext cx="548640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005840"/>
            <a:ext cx="73152" cy="1920240"/>
          </a:xfrm>
          <a:prstGeom prst="rect">
            <a:avLst/>
          </a:prstGeom>
          <a:solidFill>
            <a:srgbClr val="1C895C"/>
          </a:solidFill>
          <a:ln>
            <a:solidFill>
              <a:srgbClr val="1C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152144"/>
            <a:ext cx="512064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0D365B"/>
                </a:solidFill>
                <a:latin typeface="Aptos"/>
              </a:rPr>
              <a:t>Project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536192"/>
            <a:ext cx="5120640" cy="1298448"/>
          </a:xfrm>
          <a:prstGeom prst="rect">
            <a:avLst/>
          </a:prstGeom>
          <a:noFill/>
        </p:spPr>
        <p:txBody>
          <a:bodyPr wrap="square" lIns="54864" rIns="45720" bIns="27432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442"/>
                </a:solidFill>
                <a:latin typeface="Aptos"/>
              </a:defRPr>
            </a:pPr>
            <a:r>
              <a:t>Store student, room, payment and visitor details.</a:t>
            </a:r>
          </a:p>
          <a:p>
            <a:pPr>
              <a:spcAft>
                <a:spcPts val="600"/>
              </a:spcAft>
              <a:defRPr sz="1500">
                <a:solidFill>
                  <a:srgbClr val="263442"/>
                </a:solidFill>
                <a:latin typeface="Aptos"/>
              </a:defRPr>
            </a:pPr>
            <a:r>
              <a:t>Retrieve records quickly using SQL queries.</a:t>
            </a:r>
          </a:p>
          <a:p>
            <a:pPr>
              <a:spcAft>
                <a:spcPts val="600"/>
              </a:spcAft>
              <a:defRPr sz="1500">
                <a:solidFill>
                  <a:srgbClr val="263442"/>
                </a:solidFill>
                <a:latin typeface="Aptos"/>
              </a:defRPr>
            </a:pPr>
            <a:r>
              <a:t>Identify pending payments and room occupancy.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10128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  <a:latin typeface="Aptos"/>
              </a:rPr>
              <a:t>CORE MODULES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4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13232" y="3986784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4142232"/>
            <a:ext cx="51206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77639"/>
            <a:ext cx="155448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0D365B"/>
                </a:solidFill>
                <a:latin typeface="Aptos"/>
              </a:rPr>
              <a:t>Rooms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370832"/>
            <a:ext cx="16002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647482"/>
                </a:solidFill>
                <a:latin typeface="Aptos"/>
              </a:rPr>
              <a:t>Capacity, rent, beds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794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593592" y="3986784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1C895C"/>
          </a:solidFill>
          <a:ln>
            <a:solidFill>
              <a:srgbClr val="1C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93592" y="4142232"/>
            <a:ext cx="51206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977639"/>
            <a:ext cx="155448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0D365B"/>
                </a:solidFill>
                <a:latin typeface="Aptos"/>
              </a:rPr>
              <a:t>Students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4370832"/>
            <a:ext cx="16002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647482"/>
                </a:solidFill>
                <a:latin typeface="Aptos"/>
              </a:rPr>
              <a:t>Profile and room link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3794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73951" y="3986784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E68E2D"/>
          </a:solidFill>
          <a:ln>
            <a:solidFill>
              <a:srgbClr val="E68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1" y="4142232"/>
            <a:ext cx="51206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977639"/>
            <a:ext cx="155448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0D365B"/>
                </a:solidFill>
                <a:latin typeface="Aptos"/>
              </a:rPr>
              <a:t>Payments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370832"/>
            <a:ext cx="16002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647482"/>
                </a:solidFill>
                <a:latin typeface="Aptos"/>
              </a:rPr>
              <a:t>Amount and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19" y="3794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354311" y="3986784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7052AA"/>
          </a:solidFill>
          <a:ln>
            <a:solidFill>
              <a:srgbClr val="70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54311" y="4142232"/>
            <a:ext cx="51206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977639"/>
            <a:ext cx="155448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0D365B"/>
                </a:solidFill>
                <a:latin typeface="Aptos"/>
              </a:rPr>
              <a:t>Visitors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4370832"/>
            <a:ext cx="16002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647482"/>
                </a:solidFill>
                <a:latin typeface="Aptos"/>
              </a:rPr>
              <a:t>Guest and visit 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15000"/>
            <a:ext cx="8686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0D365B"/>
                </a:solidFill>
                <a:latin typeface="Aptos"/>
              </a:rPr>
              <a:t>Technology: MySQL  •  SQL  •  Relational database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88136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Database Design &amp;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56248"/>
            <a:ext cx="87782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>
                <a:solidFill>
                  <a:srgbClr val="647482"/>
                </a:solidFill>
                <a:latin typeface="Aptos"/>
              </a:rPr>
              <a:t>03  |  PG HOSTEL STUDENT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28816"/>
            <a:ext cx="54864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 dirty="0">
                <a:solidFill>
                  <a:srgbClr val="0070C0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27432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2743200" cy="38404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216152"/>
            <a:ext cx="2523744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ROOMS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618488"/>
            <a:ext cx="2468880" cy="1069848"/>
          </a:xfrm>
          <a:prstGeom prst="rect">
            <a:avLst/>
          </a:prstGeom>
          <a:noFill/>
        </p:spPr>
        <p:txBody>
          <a:bodyPr wrap="square" lIns="54864" rIns="45720" bIns="27432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63442"/>
                </a:solidFill>
                <a:latin typeface="Aptos"/>
              </a:defRPr>
            </a:pPr>
            <a:r>
              <a:t>room_id (PK)</a:t>
            </a:r>
          </a:p>
          <a:p>
            <a:pPr>
              <a:spcAft>
                <a:spcPts val="300"/>
              </a:spcAft>
              <a:defRPr sz="1200">
                <a:solidFill>
                  <a:srgbClr val="263442"/>
                </a:solidFill>
                <a:latin typeface="Aptos"/>
              </a:defRPr>
            </a:pPr>
            <a:r>
              <a:t>room_number</a:t>
            </a:r>
          </a:p>
          <a:p>
            <a:pPr>
              <a:spcAft>
                <a:spcPts val="300"/>
              </a:spcAft>
              <a:defRPr sz="1200">
                <a:solidFill>
                  <a:srgbClr val="263442"/>
                </a:solidFill>
                <a:latin typeface="Aptos"/>
              </a:defRPr>
            </a:pPr>
            <a:r>
              <a:t>room_type, capacity</a:t>
            </a:r>
          </a:p>
          <a:p>
            <a:pPr>
              <a:spcAft>
                <a:spcPts val="300"/>
              </a:spcAft>
              <a:defRPr sz="1200">
                <a:solidFill>
                  <a:srgbClr val="263442"/>
                </a:solidFill>
                <a:latin typeface="Aptos"/>
              </a:defRPr>
            </a:pPr>
            <a:r>
              <a:t>monthly_rent, available_beds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143000"/>
            <a:ext cx="283464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1C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63440" y="1143000"/>
            <a:ext cx="2834640" cy="384048"/>
          </a:xfrm>
          <a:prstGeom prst="roundRect">
            <a:avLst>
              <a:gd name="adj" fmla="val 12000"/>
            </a:avLst>
          </a:prstGeom>
          <a:solidFill>
            <a:srgbClr val="1C895C"/>
          </a:solidFill>
          <a:ln>
            <a:solidFill>
              <a:srgbClr val="1C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3168" y="1216152"/>
            <a:ext cx="2615184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1618488"/>
            <a:ext cx="2560320" cy="1252728"/>
          </a:xfrm>
          <a:prstGeom prst="rect">
            <a:avLst/>
          </a:prstGeom>
          <a:noFill/>
        </p:spPr>
        <p:txBody>
          <a:bodyPr wrap="square" lIns="54864" rIns="45720" bIns="27432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63442"/>
                </a:solidFill>
                <a:latin typeface="Aptos"/>
              </a:defRPr>
            </a:pPr>
            <a:r>
              <a:t>student_id (PK)</a:t>
            </a:r>
          </a:p>
          <a:p>
            <a:pPr>
              <a:spcAft>
                <a:spcPts val="300"/>
              </a:spcAft>
              <a:defRPr sz="1200">
                <a:solidFill>
                  <a:srgbClr val="263442"/>
                </a:solidFill>
                <a:latin typeface="Aptos"/>
              </a:defRPr>
            </a:pPr>
            <a:r>
              <a:t>student_name, gender</a:t>
            </a:r>
          </a:p>
          <a:p>
            <a:pPr>
              <a:spcAft>
                <a:spcPts val="300"/>
              </a:spcAft>
              <a:defRPr sz="1200">
                <a:solidFill>
                  <a:srgbClr val="263442"/>
                </a:solidFill>
                <a:latin typeface="Aptos"/>
              </a:defRPr>
            </a:pPr>
            <a:r>
              <a:t>phone, college, course</a:t>
            </a:r>
          </a:p>
          <a:p>
            <a:pPr>
              <a:spcAft>
                <a:spcPts val="300"/>
              </a:spcAft>
              <a:defRPr sz="1200">
                <a:solidFill>
                  <a:srgbClr val="263442"/>
                </a:solidFill>
                <a:latin typeface="Aptos"/>
              </a:defRPr>
            </a:pPr>
            <a:r>
              <a:t>room_id (FK)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77639"/>
            <a:ext cx="27432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68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4360" y="3977639"/>
            <a:ext cx="2743200" cy="384048"/>
          </a:xfrm>
          <a:prstGeom prst="roundRect">
            <a:avLst>
              <a:gd name="adj" fmla="val 12000"/>
            </a:avLst>
          </a:prstGeom>
          <a:solidFill>
            <a:srgbClr val="E68E2D"/>
          </a:solidFill>
          <a:ln>
            <a:solidFill>
              <a:srgbClr val="E68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" y="4050791"/>
            <a:ext cx="2523744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PAYMENTS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453127"/>
            <a:ext cx="2468880" cy="1069848"/>
          </a:xfrm>
          <a:prstGeom prst="rect">
            <a:avLst/>
          </a:prstGeom>
          <a:noFill/>
        </p:spPr>
        <p:txBody>
          <a:bodyPr wrap="square" lIns="54864" rIns="45720" bIns="27432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63442"/>
                </a:solidFill>
                <a:latin typeface="Aptos"/>
              </a:defRPr>
            </a:pPr>
            <a:r>
              <a:t>payment_id (PK)</a:t>
            </a:r>
          </a:p>
          <a:p>
            <a:pPr>
              <a:spcAft>
                <a:spcPts val="300"/>
              </a:spcAft>
              <a:defRPr sz="1200">
                <a:solidFill>
                  <a:srgbClr val="263442"/>
                </a:solidFill>
                <a:latin typeface="Aptos"/>
              </a:defRPr>
            </a:pPr>
            <a:r>
              <a:t>student_id (FK)</a:t>
            </a:r>
          </a:p>
          <a:p>
            <a:pPr>
              <a:spcAft>
                <a:spcPts val="300"/>
              </a:spcAft>
              <a:defRPr sz="1200">
                <a:solidFill>
                  <a:srgbClr val="263442"/>
                </a:solidFill>
                <a:latin typeface="Aptos"/>
              </a:defRPr>
            </a:pPr>
            <a:r>
              <a:t>payment_date, amount</a:t>
            </a:r>
          </a:p>
          <a:p>
            <a:pPr>
              <a:spcAft>
                <a:spcPts val="300"/>
              </a:spcAft>
              <a:defRPr sz="1200">
                <a:solidFill>
                  <a:srgbClr val="263442"/>
                </a:solidFill>
                <a:latin typeface="Aptos"/>
              </a:defRPr>
            </a:pPr>
            <a:r>
              <a:t>payment_status, payment_month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977639"/>
            <a:ext cx="292608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70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80" y="3977639"/>
            <a:ext cx="2926080" cy="384048"/>
          </a:xfrm>
          <a:prstGeom prst="roundRect">
            <a:avLst>
              <a:gd name="adj" fmla="val 12000"/>
            </a:avLst>
          </a:prstGeom>
          <a:solidFill>
            <a:srgbClr val="7052AA"/>
          </a:solidFill>
          <a:ln>
            <a:solidFill>
              <a:srgbClr val="70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22207" y="4050791"/>
            <a:ext cx="2706624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VISITORS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4453127"/>
            <a:ext cx="2651760" cy="1069848"/>
          </a:xfrm>
          <a:prstGeom prst="rect">
            <a:avLst/>
          </a:prstGeom>
          <a:noFill/>
        </p:spPr>
        <p:txBody>
          <a:bodyPr wrap="square" lIns="54864" rIns="45720" bIns="27432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63442"/>
                </a:solidFill>
                <a:latin typeface="Aptos"/>
              </a:defRPr>
            </a:pPr>
            <a:r>
              <a:t>visitor_id (PK)</a:t>
            </a:r>
          </a:p>
          <a:p>
            <a:pPr>
              <a:spcAft>
                <a:spcPts val="300"/>
              </a:spcAft>
              <a:defRPr sz="1200">
                <a:solidFill>
                  <a:srgbClr val="263442"/>
                </a:solidFill>
                <a:latin typeface="Aptos"/>
              </a:defRPr>
            </a:pPr>
            <a:r>
              <a:t>student_id (FK)</a:t>
            </a:r>
          </a:p>
          <a:p>
            <a:pPr>
              <a:spcAft>
                <a:spcPts val="300"/>
              </a:spcAft>
              <a:defRPr sz="1200">
                <a:solidFill>
                  <a:srgbClr val="263442"/>
                </a:solidFill>
                <a:latin typeface="Aptos"/>
              </a:defRPr>
            </a:pPr>
            <a:r>
              <a:t>visitor_name, relationship</a:t>
            </a:r>
          </a:p>
          <a:p>
            <a:pPr>
              <a:spcAft>
                <a:spcPts val="300"/>
              </a:spcAft>
              <a:defRPr sz="1200">
                <a:solidFill>
                  <a:srgbClr val="263442"/>
                </a:solidFill>
                <a:latin typeface="Aptos"/>
              </a:defRPr>
            </a:pPr>
            <a:r>
              <a:t>visit_date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37560" y="1874519"/>
            <a:ext cx="132588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01568" y="1572768"/>
            <a:ext cx="1188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>
                <a:solidFill>
                  <a:srgbClr val="0070C0"/>
                </a:solidFill>
                <a:latin typeface="Aptos"/>
              </a:rPr>
              <a:t>1 : Many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2926080"/>
            <a:ext cx="2240280" cy="1051559"/>
          </a:xfrm>
          <a:prstGeom prst="line">
            <a:avLst/>
          </a:prstGeom>
          <a:ln w="25400">
            <a:solidFill>
              <a:srgbClr val="E68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246120" y="3246120"/>
            <a:ext cx="1097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>
                <a:solidFill>
                  <a:srgbClr val="E68E2D"/>
                </a:solidFill>
                <a:latin typeface="Aptos"/>
              </a:rPr>
              <a:t>1 : Many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69480" y="2926080"/>
            <a:ext cx="1645920" cy="1051559"/>
          </a:xfrm>
          <a:prstGeom prst="line">
            <a:avLst/>
          </a:prstGeom>
          <a:ln w="25400">
            <a:solidFill>
              <a:srgbClr val="705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269480" y="3383280"/>
            <a:ext cx="1143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>
                <a:solidFill>
                  <a:srgbClr val="7052AA"/>
                </a:solidFill>
                <a:latin typeface="Aptos"/>
              </a:rPr>
              <a:t>1 : Many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897880"/>
            <a:ext cx="4114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>
                <a:solidFill>
                  <a:srgbClr val="0D365B"/>
                </a:solidFill>
                <a:latin typeface="Aptos"/>
              </a:rPr>
              <a:t>PK = Primary Key     •     FK = Foreign Key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9FFA1-391F-15EF-8A9E-2731FBD18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638802-A8ED-F4F6-2D65-3C10026BA249}"/>
              </a:ext>
            </a:extLst>
          </p:cNvPr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32AC58-1EC7-3149-2107-3EE72332C88A}"/>
              </a:ext>
            </a:extLst>
          </p:cNvPr>
          <p:cNvSpPr txBox="1"/>
          <p:nvPr/>
        </p:nvSpPr>
        <p:spPr>
          <a:xfrm>
            <a:off x="411480" y="91440"/>
            <a:ext cx="10881360" cy="495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en-US" sz="2500" b="1" dirty="0">
                <a:solidFill>
                  <a:srgbClr val="FFFFFF"/>
                </a:solidFill>
                <a:latin typeface="Aptos"/>
              </a:rPr>
              <a:t>ER Diagram</a:t>
            </a:r>
            <a:endParaRPr sz="25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DAD16-FED3-01D8-7A7C-43D3107F9DBD}"/>
              </a:ext>
            </a:extLst>
          </p:cNvPr>
          <p:cNvSpPr txBox="1"/>
          <p:nvPr/>
        </p:nvSpPr>
        <p:spPr>
          <a:xfrm>
            <a:off x="384048" y="6556248"/>
            <a:ext cx="87782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>
                <a:solidFill>
                  <a:srgbClr val="647482"/>
                </a:solidFill>
                <a:latin typeface="Aptos"/>
              </a:rPr>
              <a:t>03  |  PG HOSTEL STUDENT MANAGEMENT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A96DE2-F5BB-EF82-DA2F-DBF2F097A61E}"/>
              </a:ext>
            </a:extLst>
          </p:cNvPr>
          <p:cNvSpPr txBox="1"/>
          <p:nvPr/>
        </p:nvSpPr>
        <p:spPr>
          <a:xfrm>
            <a:off x="11201400" y="6528816"/>
            <a:ext cx="54864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lang="en-US" sz="1000" b="1" dirty="0">
                <a:solidFill>
                  <a:srgbClr val="0070C0"/>
                </a:solidFill>
                <a:latin typeface="Aptos"/>
              </a:rPr>
              <a:t>4</a:t>
            </a:r>
            <a:endParaRPr sz="1000" b="1" dirty="0">
              <a:solidFill>
                <a:srgbClr val="0070C0"/>
              </a:solidFill>
              <a:latin typeface="Apto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488FA94-B7C4-8B36-EA2D-1D275F447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1480" y="789888"/>
            <a:ext cx="10955021" cy="563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33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88136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Sample Data in the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56248"/>
            <a:ext cx="87782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>
                <a:solidFill>
                  <a:srgbClr val="647482"/>
                </a:solidFill>
                <a:latin typeface="Aptos"/>
              </a:rPr>
              <a:t>04  |  PG HOSTEL STUDENT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28816"/>
            <a:ext cx="54864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lang="en-US" sz="1000" b="1" dirty="0">
                <a:solidFill>
                  <a:srgbClr val="0070C0"/>
                </a:solidFill>
                <a:latin typeface="Aptos"/>
              </a:rPr>
              <a:t>5</a:t>
            </a:r>
            <a:endParaRPr sz="1000" b="1" dirty="0">
              <a:solidFill>
                <a:srgbClr val="0070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987552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0070C0"/>
                </a:solidFill>
                <a:latin typeface="Aptos"/>
              </a:rPr>
              <a:t>ROOMS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298448"/>
          <a:ext cx="52120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Room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Type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Capacity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Rent (₹)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101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Single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6,000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102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Double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4,500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103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Double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4,500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104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Triple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3,500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105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Double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4,500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987552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1C895C"/>
                </a:solidFill>
                <a:latin typeface="Aptos"/>
              </a:rPr>
              <a:t>STUDENTS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72200" y="1298448"/>
          <a:ext cx="5074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Name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Course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Room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Ramana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MCA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101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Anil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B.Tech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102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Anusha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B.Sc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102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Bharat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B.Tech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103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Deepika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MCA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104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4360" y="3703320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E68E2D"/>
                </a:solidFill>
                <a:latin typeface="Aptos"/>
              </a:rPr>
              <a:t>PAYMENTS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" y="4005072"/>
          <a:ext cx="52120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 ID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Month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Amount (₹)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Sep 2026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6,000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Paid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Oct 2026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6,000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Paid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Oct 2026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4,500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Pending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Oct 2026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4,500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Pending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72200" y="3703320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7052AA"/>
                </a:solidFill>
                <a:latin typeface="Aptos"/>
              </a:rPr>
              <a:t>VISITORS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72200" y="4005072"/>
          <a:ext cx="53492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Visitor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Relationship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Visit Date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Suresh Kumar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Father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2026-10-02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Ravi Kumar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Brother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2026-10-03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Lakshmi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Mother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2026-10-04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Mahesh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Friend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rPr dirty="0"/>
                        <a:t>2026-10-05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" y="5897880"/>
            <a:ext cx="105156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647482"/>
                </a:solidFill>
                <a:latin typeface="Aptos"/>
              </a:rPr>
              <a:t>Sample dataset from the project script; 5 rooms, 10 students and 7 visitor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881360" cy="495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dirty="0">
                <a:solidFill>
                  <a:srgbClr val="FFFFFF"/>
                </a:solidFill>
                <a:latin typeface="Aptos"/>
              </a:rPr>
              <a:t>SQL Queries: 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56248"/>
            <a:ext cx="87782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>
                <a:solidFill>
                  <a:srgbClr val="647482"/>
                </a:solidFill>
                <a:latin typeface="Aptos"/>
              </a:rPr>
              <a:t>05  |  PG HOSTEL STUDENT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28816"/>
            <a:ext cx="54864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lang="en-US" sz="1000" b="1" dirty="0">
                <a:solidFill>
                  <a:srgbClr val="0070C0"/>
                </a:solidFill>
                <a:latin typeface="Aptos"/>
              </a:rPr>
              <a:t>6</a:t>
            </a:r>
            <a:endParaRPr sz="1000" b="1" dirty="0">
              <a:solidFill>
                <a:srgbClr val="0070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36576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0D365B"/>
                </a:solidFill>
                <a:latin typeface="Aptos"/>
              </a:rPr>
              <a:t>1. View student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80160"/>
            <a:ext cx="5257800" cy="914400"/>
          </a:xfrm>
          <a:prstGeom prst="roundRect">
            <a:avLst>
              <a:gd name="adj" fmla="val 12000"/>
            </a:avLst>
          </a:prstGeom>
          <a:solidFill>
            <a:srgbClr val="EFF6FB"/>
          </a:solidFill>
          <a:ln>
            <a:solidFill>
              <a:srgbClr val="D1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1389888"/>
            <a:ext cx="500176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0D365B"/>
                </a:solidFill>
                <a:latin typeface="Consolas"/>
              </a:defRPr>
            </a:pPr>
            <a:r>
              <a:t>SELECT student_name, phone, course</a:t>
            </a:r>
          </a:p>
          <a:p>
            <a:pPr>
              <a:spcAft>
                <a:spcPts val="100"/>
              </a:spcAft>
              <a:defRPr sz="1400">
                <a:solidFill>
                  <a:srgbClr val="0D365B"/>
                </a:solidFill>
                <a:latin typeface="Consolas"/>
              </a:defRPr>
            </a:pPr>
            <a:r>
              <a:t>FROM Students;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960120"/>
            <a:ext cx="36576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0D365B"/>
                </a:solidFill>
                <a:latin typeface="Aptos"/>
              </a:rPr>
              <a:t>2. Find students by course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EFF6FB"/>
          </a:solidFill>
          <a:ln>
            <a:solidFill>
              <a:srgbClr val="D1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0216" y="1389888"/>
            <a:ext cx="513892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0D365B"/>
                </a:solidFill>
                <a:latin typeface="Consolas"/>
              </a:defRPr>
            </a:pPr>
            <a:r>
              <a:t>SELECT * FROM Students</a:t>
            </a:r>
          </a:p>
          <a:p>
            <a:pPr>
              <a:spcAft>
                <a:spcPts val="100"/>
              </a:spcAft>
              <a:defRPr sz="1300">
                <a:solidFill>
                  <a:srgbClr val="0D365B"/>
                </a:solidFill>
                <a:latin typeface="Consolas"/>
              </a:defRPr>
            </a:pPr>
            <a:r>
              <a:t>WHERE course IN ('MCA', 'B.Tech');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36576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0D365B"/>
                </a:solidFill>
                <a:latin typeface="Aptos"/>
              </a:rPr>
              <a:t>3. Count total students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26080"/>
            <a:ext cx="5257800" cy="914400"/>
          </a:xfrm>
          <a:prstGeom prst="roundRect">
            <a:avLst>
              <a:gd name="adj" fmla="val 12000"/>
            </a:avLst>
          </a:prstGeom>
          <a:solidFill>
            <a:srgbClr val="EFF6FB"/>
          </a:solidFill>
          <a:ln>
            <a:solidFill>
              <a:srgbClr val="D1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3035808"/>
            <a:ext cx="500176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0D365B"/>
                </a:solidFill>
                <a:latin typeface="Consolas"/>
              </a:defRPr>
            </a:pPr>
            <a:r>
              <a:t>SELECT COUNT(*) AS total_students</a:t>
            </a:r>
          </a:p>
          <a:p>
            <a:pPr>
              <a:spcAft>
                <a:spcPts val="100"/>
              </a:spcAft>
              <a:defRPr sz="1400">
                <a:solidFill>
                  <a:srgbClr val="0D365B"/>
                </a:solidFill>
                <a:latin typeface="Consolas"/>
              </a:defRPr>
            </a:pPr>
            <a:r>
              <a:t>FROM Students;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36576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0D365B"/>
                </a:solidFill>
                <a:latin typeface="Aptos"/>
              </a:rPr>
              <a:t>4. Find pending 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926080"/>
            <a:ext cx="5394960" cy="1371600"/>
          </a:xfrm>
          <a:prstGeom prst="roundRect">
            <a:avLst>
              <a:gd name="adj" fmla="val 12000"/>
            </a:avLst>
          </a:prstGeom>
          <a:solidFill>
            <a:srgbClr val="EFF6FB"/>
          </a:solidFill>
          <a:ln>
            <a:solidFill>
              <a:srgbClr val="D1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216" y="3035808"/>
            <a:ext cx="5138928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0D365B"/>
                </a:solidFill>
                <a:latin typeface="Consolas"/>
              </a:defRPr>
            </a:pPr>
            <a:r>
              <a:t>SELECT DISTINCT s.student_name</a:t>
            </a:r>
          </a:p>
          <a:p>
            <a:pPr>
              <a:spcAft>
                <a:spcPts val="100"/>
              </a:spcAft>
              <a:defRPr sz="1200">
                <a:solidFill>
                  <a:srgbClr val="0D365B"/>
                </a:solidFill>
                <a:latin typeface="Consolas"/>
              </a:defRPr>
            </a:pPr>
            <a:r>
              <a:t>FROM Students s JOIN Payments p</a:t>
            </a:r>
          </a:p>
          <a:p>
            <a:pPr>
              <a:spcAft>
                <a:spcPts val="100"/>
              </a:spcAft>
              <a:defRPr sz="1200">
                <a:solidFill>
                  <a:srgbClr val="0D365B"/>
                </a:solidFill>
                <a:latin typeface="Consolas"/>
              </a:defRPr>
            </a:pPr>
            <a:r>
              <a:t>ON s.student_id = p.student_id</a:t>
            </a:r>
          </a:p>
          <a:p>
            <a:pPr>
              <a:spcAft>
                <a:spcPts val="100"/>
              </a:spcAft>
              <a:defRPr sz="1200">
                <a:solidFill>
                  <a:srgbClr val="0D365B"/>
                </a:solidFill>
                <a:latin typeface="Consolas"/>
              </a:defRPr>
            </a:pPr>
            <a:r>
              <a:t>WHERE p.payment_status = 'Pending';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800600"/>
            <a:ext cx="34290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4800600"/>
            <a:ext cx="73152" cy="100584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4946904"/>
            <a:ext cx="306324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0D365B"/>
                </a:solidFill>
                <a:latin typeface="Aptos"/>
              </a:rPr>
              <a:t>Filtering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5330952"/>
            <a:ext cx="306324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263442"/>
                </a:solidFill>
                <a:latin typeface="Aptos"/>
              </a:rPr>
              <a:t>WHERE, IN, BETWEEN, LIKE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800600"/>
            <a:ext cx="34290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4800600"/>
            <a:ext cx="73152" cy="1005840"/>
          </a:xfrm>
          <a:prstGeom prst="rect">
            <a:avLst/>
          </a:prstGeom>
          <a:solidFill>
            <a:srgbClr val="1C895C"/>
          </a:solidFill>
          <a:ln>
            <a:solidFill>
              <a:srgbClr val="1C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4946904"/>
            <a:ext cx="306324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0D365B"/>
                </a:solidFill>
                <a:latin typeface="Aptos"/>
              </a:rPr>
              <a:t>Sorting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5330952"/>
            <a:ext cx="306324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263442"/>
                </a:solidFill>
                <a:latin typeface="Aptos"/>
              </a:rPr>
              <a:t>ORDER BY and LIMIT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4800600"/>
            <a:ext cx="338328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83879" y="4800600"/>
            <a:ext cx="73152" cy="1005840"/>
          </a:xfrm>
          <a:prstGeom prst="rect">
            <a:avLst/>
          </a:prstGeom>
          <a:solidFill>
            <a:srgbClr val="E68E2D"/>
          </a:solidFill>
          <a:ln>
            <a:solidFill>
              <a:srgbClr val="E68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85048" y="4946904"/>
            <a:ext cx="301752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0D365B"/>
                </a:solidFill>
                <a:latin typeface="Aptos"/>
              </a:rPr>
              <a:t>Summaries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5330952"/>
            <a:ext cx="30175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263442"/>
                </a:solidFill>
                <a:latin typeface="Aptos"/>
              </a:rPr>
              <a:t>COUNT, SUM, AVG, MIN, MAX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88136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Joins &amp; Advanced SQL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56248"/>
            <a:ext cx="87782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>
                <a:solidFill>
                  <a:srgbClr val="647482"/>
                </a:solidFill>
                <a:latin typeface="Aptos"/>
              </a:rPr>
              <a:t>06  |  PG HOSTEL STUDENT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28816"/>
            <a:ext cx="54864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lang="en-US" sz="1000" b="1" dirty="0">
                <a:solidFill>
                  <a:srgbClr val="0070C0"/>
                </a:solidFill>
                <a:latin typeface="Aptos"/>
              </a:rPr>
              <a:t>7</a:t>
            </a:r>
            <a:endParaRPr sz="1000" b="1" dirty="0">
              <a:solidFill>
                <a:srgbClr val="0070C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73152" cy="192024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152144"/>
            <a:ext cx="310896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0D365B"/>
                </a:solidFill>
                <a:latin typeface="Aptos"/>
              </a:rPr>
              <a:t>JOINs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536192"/>
            <a:ext cx="3108960" cy="1298448"/>
          </a:xfrm>
          <a:prstGeom prst="rect">
            <a:avLst/>
          </a:prstGeom>
          <a:noFill/>
        </p:spPr>
        <p:txBody>
          <a:bodyPr wrap="square" lIns="54864" rIns="45720" b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t>INNER JOIN: matching rows</a:t>
            </a:r>
          </a:p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t>LEFT JOIN: all left rows</a:t>
            </a:r>
          </a:p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t>RIGHT JOIN: all right rows</a:t>
            </a:r>
          </a:p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t>CROSS JOIN: combinations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00584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005840"/>
            <a:ext cx="73152" cy="1920240"/>
          </a:xfrm>
          <a:prstGeom prst="rect">
            <a:avLst/>
          </a:prstGeom>
          <a:solidFill>
            <a:srgbClr val="1C895C"/>
          </a:solidFill>
          <a:ln>
            <a:solidFill>
              <a:srgbClr val="1C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152144"/>
            <a:ext cx="310896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0D365B"/>
                </a:solidFill>
                <a:latin typeface="Aptos"/>
              </a:rPr>
              <a:t>Query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536192"/>
            <a:ext cx="3108960" cy="1298448"/>
          </a:xfrm>
          <a:prstGeom prst="rect">
            <a:avLst/>
          </a:prstGeom>
          <a:noFill/>
        </p:spPr>
        <p:txBody>
          <a:bodyPr wrap="square" lIns="54864" rIns="45720" b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t>GROUP BY + HAVING</a:t>
            </a:r>
          </a:p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t>Subqueries</a:t>
            </a:r>
          </a:p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t>CTE (WITH clause)</a:t>
            </a:r>
          </a:p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t>UNION / UNION 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00584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005840"/>
            <a:ext cx="73152" cy="1920240"/>
          </a:xfrm>
          <a:prstGeom prst="rect">
            <a:avLst/>
          </a:prstGeom>
          <a:solidFill>
            <a:srgbClr val="7052AA"/>
          </a:solidFill>
          <a:ln>
            <a:solidFill>
              <a:srgbClr val="705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1152144"/>
            <a:ext cx="310896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0D365B"/>
                </a:solidFill>
                <a:latin typeface="Aptos"/>
              </a:rPr>
              <a:t>Database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536192"/>
            <a:ext cx="3108960" cy="1298448"/>
          </a:xfrm>
          <a:prstGeom prst="rect">
            <a:avLst/>
          </a:prstGeom>
          <a:noFill/>
        </p:spPr>
        <p:txBody>
          <a:bodyPr wrap="square" lIns="54864" rIns="45720" b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t>VIEW for reusable query</a:t>
            </a:r>
          </a:p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t>INDEX for lookup support</a:t>
            </a:r>
          </a:p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t>CASE for conditional labels</a:t>
            </a:r>
          </a:p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t>Transactions + ROLLBACK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37560"/>
            <a:ext cx="45720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0D365B"/>
                </a:solidFill>
                <a:latin typeface="Aptos"/>
              </a:rPr>
              <a:t>Example: show each student's room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03320"/>
            <a:ext cx="6492240" cy="1234440"/>
          </a:xfrm>
          <a:prstGeom prst="roundRect">
            <a:avLst>
              <a:gd name="adj" fmla="val 12000"/>
            </a:avLst>
          </a:prstGeom>
          <a:solidFill>
            <a:srgbClr val="EFF6FB"/>
          </a:solidFill>
          <a:ln>
            <a:solidFill>
              <a:srgbClr val="D1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" y="3813048"/>
            <a:ext cx="6236207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0D365B"/>
                </a:solidFill>
                <a:latin typeface="Consolas"/>
              </a:defRPr>
            </a:pPr>
            <a:r>
              <a:t>SELECT s.student_name, r.room_number, r.monthly_rent</a:t>
            </a:r>
          </a:p>
          <a:p>
            <a:pPr>
              <a:spcAft>
                <a:spcPts val="100"/>
              </a:spcAft>
              <a:defRPr sz="1300">
                <a:solidFill>
                  <a:srgbClr val="0D365B"/>
                </a:solidFill>
                <a:latin typeface="Consolas"/>
              </a:defRPr>
            </a:pPr>
            <a:r>
              <a:t>FROM Students s</a:t>
            </a:r>
          </a:p>
          <a:p>
            <a:pPr>
              <a:spcAft>
                <a:spcPts val="100"/>
              </a:spcAft>
              <a:defRPr sz="1300">
                <a:solidFill>
                  <a:srgbClr val="0D365B"/>
                </a:solidFill>
                <a:latin typeface="Consolas"/>
              </a:defRPr>
            </a:pPr>
            <a:r>
              <a:t>INNER JOIN Rooms r ON s.room_id = r.room_id;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3401568"/>
            <a:ext cx="3977639" cy="2057400"/>
          </a:xfrm>
          <a:prstGeom prst="roundRect">
            <a:avLst>
              <a:gd name="adj" fmla="val 12000"/>
            </a:avLst>
          </a:prstGeom>
          <a:solidFill>
            <a:srgbClr val="ECF6FD"/>
          </a:solidFill>
          <a:ln>
            <a:solidFill>
              <a:srgbClr val="D2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8120" y="3657600"/>
            <a:ext cx="33832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0070C0"/>
                </a:solidFill>
                <a:latin typeface="Aptos"/>
              </a:rPr>
              <a:t>Why use these features?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069080"/>
            <a:ext cx="3383280" cy="1143000"/>
          </a:xfrm>
          <a:prstGeom prst="rect">
            <a:avLst/>
          </a:prstGeom>
          <a:noFill/>
        </p:spPr>
        <p:txBody>
          <a:bodyPr wrap="square" lIns="54864" rIns="45720" bIns="27432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63442"/>
                </a:solidFill>
                <a:latin typeface="Aptos"/>
              </a:defRPr>
            </a:pPr>
            <a:r>
              <a:t>Combine related tables</a:t>
            </a:r>
          </a:p>
          <a:p>
            <a:pPr>
              <a:spcAft>
                <a:spcPts val="500"/>
              </a:spcAft>
              <a:defRPr sz="1300">
                <a:solidFill>
                  <a:srgbClr val="263442"/>
                </a:solidFill>
                <a:latin typeface="Aptos"/>
              </a:defRPr>
            </a:pPr>
            <a:r>
              <a:t>Summarise and compare data</a:t>
            </a:r>
          </a:p>
          <a:p>
            <a:pPr>
              <a:spcAft>
                <a:spcPts val="500"/>
              </a:spcAft>
              <a:defRPr sz="1300">
                <a:solidFill>
                  <a:srgbClr val="263442"/>
                </a:solidFill>
                <a:latin typeface="Aptos"/>
              </a:defRPr>
            </a:pPr>
            <a:r>
              <a:t>Reuse common query logic</a:t>
            </a:r>
          </a:p>
          <a:p>
            <a:pPr>
              <a:spcAft>
                <a:spcPts val="500"/>
              </a:spcAft>
              <a:defRPr sz="1300">
                <a:solidFill>
                  <a:srgbClr val="263442"/>
                </a:solidFill>
                <a:latin typeface="Aptos"/>
              </a:defRPr>
            </a:pPr>
            <a:r>
              <a:t>Support faster data retrieval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88136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Project Output &amp; Useful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56248"/>
            <a:ext cx="87782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>
                <a:solidFill>
                  <a:srgbClr val="647482"/>
                </a:solidFill>
                <a:latin typeface="Aptos"/>
              </a:rPr>
              <a:t>07  |  PG HOSTEL STUDENT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28816"/>
            <a:ext cx="54864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lang="en-US" sz="1000" b="1" dirty="0">
                <a:solidFill>
                  <a:srgbClr val="0070C0"/>
                </a:solidFill>
                <a:latin typeface="Aptos"/>
              </a:rPr>
              <a:t>8</a:t>
            </a:r>
            <a:endParaRPr sz="1000" b="1" dirty="0">
              <a:solidFill>
                <a:srgbClr val="0070C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024128"/>
            <a:ext cx="260604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7315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0070C0"/>
                </a:solidFill>
                <a:latin typeface="Apto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298448"/>
            <a:ext cx="150876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>
                <a:solidFill>
                  <a:srgbClr val="0D365B"/>
                </a:solidFill>
                <a:latin typeface="Aptos"/>
              </a:rPr>
              <a:t>Students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024128"/>
            <a:ext cx="260604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1170432"/>
            <a:ext cx="7315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1C895C"/>
                </a:solidFill>
                <a:latin typeface="Apto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298448"/>
            <a:ext cx="150876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>
                <a:solidFill>
                  <a:srgbClr val="0D365B"/>
                </a:solidFill>
                <a:latin typeface="Aptos"/>
              </a:rPr>
              <a:t>Rooms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024128"/>
            <a:ext cx="260604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170432"/>
            <a:ext cx="7315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E68E2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298448"/>
            <a:ext cx="150876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>
                <a:solidFill>
                  <a:srgbClr val="0D365B"/>
                </a:solidFill>
                <a:latin typeface="Aptos"/>
              </a:rPr>
              <a:t>Pending payment 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024128"/>
            <a:ext cx="260604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19" y="1170432"/>
            <a:ext cx="7315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7052AA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1298448"/>
            <a:ext cx="150876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>
                <a:solidFill>
                  <a:srgbClr val="0D365B"/>
                </a:solidFill>
                <a:latin typeface="Aptos"/>
              </a:rPr>
              <a:t>Visitor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514600"/>
            <a:ext cx="41148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0D365B"/>
                </a:solidFill>
                <a:latin typeface="Aptos"/>
              </a:rPr>
              <a:t>Example report: students per room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0080" y="2880360"/>
          <a:ext cx="42976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Room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Students assigned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101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102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103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104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105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0" y="2514600"/>
            <a:ext cx="41148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0D365B"/>
                </a:solidFill>
                <a:latin typeface="Aptos"/>
              </a:rPr>
              <a:t>Example report: payment status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0" y="2880360"/>
          <a:ext cx="55778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Amount (₹)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45720" marR="36576" marT="22860" marB="22860">
                    <a:solidFill>
                      <a:srgbClr val="0D3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Ramana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6,000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Paid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Anil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4,500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Pending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Charan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4,500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Pending</a:t>
                      </a:r>
                    </a:p>
                  </a:txBody>
                  <a:tcPr marL="45720" marR="36576" marT="22860" marB="228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Anusha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4,500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Paid</a:t>
                      </a:r>
                    </a:p>
                  </a:txBody>
                  <a:tcPr marL="45720" marR="36576" marT="22860" marB="22860">
                    <a:solidFill>
                      <a:srgbClr val="EC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881360" cy="495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en-US" sz="2500" b="1" dirty="0">
                <a:solidFill>
                  <a:srgbClr val="FFFFFF"/>
                </a:solidFill>
                <a:latin typeface="Aptos"/>
              </a:rPr>
              <a:t>Some </a:t>
            </a:r>
            <a:r>
              <a:rPr sz="2500" b="1" dirty="0">
                <a:solidFill>
                  <a:srgbClr val="FFFFFF"/>
                </a:solidFill>
                <a:latin typeface="Aptos"/>
              </a:rPr>
              <a:t> SQL 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56248"/>
            <a:ext cx="87782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>
                <a:solidFill>
                  <a:srgbClr val="647482"/>
                </a:solidFill>
                <a:latin typeface="Aptos"/>
              </a:rPr>
              <a:t>08  |  PG HOSTEL STUDENT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28816"/>
            <a:ext cx="54864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lang="en-US" sz="1000" b="1" dirty="0">
                <a:solidFill>
                  <a:srgbClr val="0070C0"/>
                </a:solidFill>
                <a:latin typeface="Aptos"/>
              </a:rPr>
              <a:t>9</a:t>
            </a:r>
            <a:endParaRPr sz="1000" b="1" dirty="0">
              <a:solidFill>
                <a:srgbClr val="0070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1206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0D365B"/>
                </a:solidFill>
                <a:latin typeface="Aptos"/>
              </a:rPr>
              <a:t>Second-highest room rent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5303520" cy="1508760"/>
          </a:xfrm>
          <a:prstGeom prst="roundRect">
            <a:avLst>
              <a:gd name="adj" fmla="val 12000"/>
            </a:avLst>
          </a:prstGeom>
          <a:solidFill>
            <a:srgbClr val="EFF6FB"/>
          </a:solidFill>
          <a:ln>
            <a:solidFill>
              <a:srgbClr val="D1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1463040"/>
            <a:ext cx="5047488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0D365B"/>
                </a:solidFill>
                <a:latin typeface="Consolas"/>
              </a:defRPr>
            </a:pPr>
            <a:r>
              <a:t>SELECT MAX(monthly_rent)</a:t>
            </a:r>
          </a:p>
          <a:p>
            <a:pPr>
              <a:spcAft>
                <a:spcPts val="100"/>
              </a:spcAft>
              <a:defRPr sz="1300">
                <a:solidFill>
                  <a:srgbClr val="0D365B"/>
                </a:solidFill>
                <a:latin typeface="Consolas"/>
              </a:defRPr>
            </a:pPr>
            <a:r>
              <a:t>FROM Rooms</a:t>
            </a:r>
          </a:p>
          <a:p>
            <a:pPr>
              <a:spcAft>
                <a:spcPts val="100"/>
              </a:spcAft>
              <a:defRPr sz="1300">
                <a:solidFill>
                  <a:srgbClr val="0D365B"/>
                </a:solidFill>
                <a:latin typeface="Consolas"/>
              </a:defRPr>
            </a:pPr>
            <a:r>
              <a:t>WHERE monthly_rent &lt; (</a:t>
            </a:r>
          </a:p>
          <a:p>
            <a:pPr>
              <a:spcAft>
                <a:spcPts val="100"/>
              </a:spcAft>
              <a:defRPr sz="1300">
                <a:solidFill>
                  <a:srgbClr val="0D365B"/>
                </a:solidFill>
                <a:latin typeface="Consolas"/>
              </a:defRPr>
            </a:pPr>
            <a:r>
              <a:t>  SELECT MAX(monthly_rent) FROM Rooms</a:t>
            </a:r>
          </a:p>
          <a:p>
            <a:pPr>
              <a:spcAft>
                <a:spcPts val="100"/>
              </a:spcAft>
              <a:defRPr sz="1300">
                <a:solidFill>
                  <a:srgbClr val="0D365B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005840"/>
            <a:ext cx="5212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0D365B"/>
                </a:solidFill>
                <a:latin typeface="Aptos"/>
              </a:rPr>
              <a:t>Students who never made a payment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53312"/>
            <a:ext cx="5394960" cy="1508760"/>
          </a:xfrm>
          <a:prstGeom prst="roundRect">
            <a:avLst>
              <a:gd name="adj" fmla="val 12000"/>
            </a:avLst>
          </a:prstGeom>
          <a:solidFill>
            <a:srgbClr val="EFF6FB"/>
          </a:solidFill>
          <a:ln>
            <a:solidFill>
              <a:srgbClr val="D1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0216" y="1463040"/>
            <a:ext cx="5138928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0D365B"/>
                </a:solidFill>
                <a:latin typeface="Consolas"/>
              </a:defRPr>
            </a:pPr>
            <a:r>
              <a:t>SELECT s.student_id, s.student_name</a:t>
            </a:r>
          </a:p>
          <a:p>
            <a:pPr>
              <a:spcAft>
                <a:spcPts val="100"/>
              </a:spcAft>
              <a:defRPr sz="1200">
                <a:solidFill>
                  <a:srgbClr val="0D365B"/>
                </a:solidFill>
                <a:latin typeface="Consolas"/>
              </a:defRPr>
            </a:pPr>
            <a:r>
              <a:t>FROM Students s</a:t>
            </a:r>
          </a:p>
          <a:p>
            <a:pPr>
              <a:spcAft>
                <a:spcPts val="100"/>
              </a:spcAft>
              <a:defRPr sz="1200">
                <a:solidFill>
                  <a:srgbClr val="0D365B"/>
                </a:solidFill>
                <a:latin typeface="Consolas"/>
              </a:defRPr>
            </a:pPr>
            <a:r>
              <a:t>LEFT JOIN Payments p ON s.student_id = p.student_id</a:t>
            </a:r>
          </a:p>
          <a:p>
            <a:pPr>
              <a:spcAft>
                <a:spcPts val="100"/>
              </a:spcAft>
              <a:defRPr sz="1200">
                <a:solidFill>
                  <a:srgbClr val="0D365B"/>
                </a:solidFill>
                <a:latin typeface="Consolas"/>
              </a:defRPr>
            </a:pPr>
            <a:r>
              <a:t>WHERE p.student_id IS NULL;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37560"/>
            <a:ext cx="51206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0D365B"/>
                </a:solidFill>
                <a:latin typeface="Aptos"/>
              </a:rPr>
              <a:t>Total paid by each student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703320"/>
            <a:ext cx="5303520" cy="1691640"/>
          </a:xfrm>
          <a:prstGeom prst="roundRect">
            <a:avLst>
              <a:gd name="adj" fmla="val 12000"/>
            </a:avLst>
          </a:prstGeom>
          <a:solidFill>
            <a:srgbClr val="EFF6FB"/>
          </a:solidFill>
          <a:ln>
            <a:solidFill>
              <a:srgbClr val="D1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3813048"/>
            <a:ext cx="5047488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0D365B"/>
                </a:solidFill>
                <a:latin typeface="Consolas"/>
              </a:defRPr>
            </a:pPr>
            <a:r>
              <a:t>SELECT s.student_name,</a:t>
            </a:r>
          </a:p>
          <a:p>
            <a:pPr>
              <a:spcAft>
                <a:spcPts val="100"/>
              </a:spcAft>
              <a:defRPr sz="1100">
                <a:solidFill>
                  <a:srgbClr val="0D365B"/>
                </a:solidFill>
                <a:latin typeface="Consolas"/>
              </a:defRPr>
            </a:pPr>
            <a:r>
              <a:t>       COALESCE(SUM(p.amount), 0) AS total_paid</a:t>
            </a:r>
          </a:p>
          <a:p>
            <a:pPr>
              <a:spcAft>
                <a:spcPts val="100"/>
              </a:spcAft>
              <a:defRPr sz="1100">
                <a:solidFill>
                  <a:srgbClr val="0D365B"/>
                </a:solidFill>
                <a:latin typeface="Consolas"/>
              </a:defRPr>
            </a:pPr>
            <a:r>
              <a:t>FROM Students s LEFT JOIN Payments p</a:t>
            </a:r>
          </a:p>
          <a:p>
            <a:pPr>
              <a:spcAft>
                <a:spcPts val="100"/>
              </a:spcAft>
              <a:defRPr sz="1100">
                <a:solidFill>
                  <a:srgbClr val="0D365B"/>
                </a:solidFill>
                <a:latin typeface="Consolas"/>
              </a:defRPr>
            </a:pPr>
            <a:r>
              <a:t>ON s.student_id = p.student_id</a:t>
            </a:r>
          </a:p>
          <a:p>
            <a:pPr>
              <a:spcAft>
                <a:spcPts val="100"/>
              </a:spcAft>
              <a:defRPr sz="1100">
                <a:solidFill>
                  <a:srgbClr val="0D365B"/>
                </a:solidFill>
                <a:latin typeface="Consolas"/>
              </a:defRPr>
            </a:pPr>
            <a:r>
              <a:t>WHERE p.payment_status = 'Paid'</a:t>
            </a:r>
          </a:p>
          <a:p>
            <a:pPr>
              <a:spcAft>
                <a:spcPts val="100"/>
              </a:spcAft>
              <a:defRPr sz="1100">
                <a:solidFill>
                  <a:srgbClr val="0D365B"/>
                </a:solidFill>
                <a:latin typeface="Consolas"/>
              </a:defRPr>
            </a:pPr>
            <a:r>
              <a:t>GROUP BY s.student_id, s.student_name;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337560"/>
            <a:ext cx="5212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0D365B"/>
                </a:solidFill>
                <a:latin typeface="Aptos"/>
              </a:rPr>
              <a:t>Rooms with most students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03320"/>
            <a:ext cx="5394960" cy="1417320"/>
          </a:xfrm>
          <a:prstGeom prst="roundRect">
            <a:avLst>
              <a:gd name="adj" fmla="val 12000"/>
            </a:avLst>
          </a:prstGeom>
          <a:solidFill>
            <a:srgbClr val="EFF6FB"/>
          </a:solidFill>
          <a:ln>
            <a:solidFill>
              <a:srgbClr val="D1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216" y="3813048"/>
            <a:ext cx="5138928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0D365B"/>
                </a:solidFill>
                <a:latin typeface="Consolas"/>
              </a:defRPr>
            </a:pPr>
            <a:r>
              <a:t>SELECT r.room_number, COUNT(s.student_id) AS total</a:t>
            </a:r>
          </a:p>
          <a:p>
            <a:pPr>
              <a:spcAft>
                <a:spcPts val="100"/>
              </a:spcAft>
              <a:defRPr sz="1100">
                <a:solidFill>
                  <a:srgbClr val="0D365B"/>
                </a:solidFill>
                <a:latin typeface="Consolas"/>
              </a:defRPr>
            </a:pPr>
            <a:r>
              <a:t>FROM Rooms r JOIN Students s ON r.room_id = s.room_id</a:t>
            </a:r>
          </a:p>
          <a:p>
            <a:pPr>
              <a:spcAft>
                <a:spcPts val="100"/>
              </a:spcAft>
              <a:defRPr sz="1100">
                <a:solidFill>
                  <a:srgbClr val="0D365B"/>
                </a:solidFill>
                <a:latin typeface="Consolas"/>
              </a:defRPr>
            </a:pPr>
            <a:r>
              <a:t>GROUP BY r.room_id, r.room_number</a:t>
            </a:r>
          </a:p>
          <a:p>
            <a:pPr>
              <a:spcAft>
                <a:spcPts val="100"/>
              </a:spcAft>
              <a:defRPr sz="1100">
                <a:solidFill>
                  <a:srgbClr val="0D365B"/>
                </a:solidFill>
                <a:latin typeface="Consolas"/>
              </a:defRPr>
            </a:pPr>
            <a:r>
              <a:t>ORDER BY total DESC LIMIT 1;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88136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Learning Outcomes &amp;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56248"/>
            <a:ext cx="87782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>
                <a:solidFill>
                  <a:srgbClr val="647482"/>
                </a:solidFill>
                <a:latin typeface="Aptos"/>
              </a:rPr>
              <a:t>09  |  PG HOSTEL STUDENT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28816"/>
            <a:ext cx="54864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lang="en-US" sz="1000" b="1" dirty="0">
                <a:solidFill>
                  <a:srgbClr val="0070C0"/>
                </a:solidFill>
                <a:latin typeface="Aptos"/>
              </a:rPr>
              <a:t>10</a:t>
            </a:r>
            <a:endParaRPr sz="1000" b="1" dirty="0">
              <a:solidFill>
                <a:srgbClr val="0070C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59" y="1362652"/>
            <a:ext cx="530352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7408" y="1362652"/>
            <a:ext cx="73152" cy="214884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1" y="1508759"/>
            <a:ext cx="4937759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0D365B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1" y="1970532"/>
            <a:ext cx="4937759" cy="1527048"/>
          </a:xfrm>
          <a:prstGeom prst="rect">
            <a:avLst/>
          </a:prstGeom>
          <a:noFill/>
        </p:spPr>
        <p:txBody>
          <a:bodyPr wrap="square" lIns="54864" rIns="45720" b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rPr dirty="0"/>
              <a:t>Relational database design with primary and foreign keys.</a:t>
            </a:r>
          </a:p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rPr dirty="0"/>
              <a:t>CRUD-style data retrieval and filtering with SQL.</a:t>
            </a:r>
          </a:p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rPr dirty="0"/>
              <a:t>Joins, aggregates, subqueries, CTEs and views.</a:t>
            </a:r>
          </a:p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rPr dirty="0"/>
              <a:t>Constraints, indexes and transaction basics.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5618" y="1373763"/>
            <a:ext cx="530352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3763"/>
            <a:ext cx="73152" cy="2148840"/>
          </a:xfrm>
          <a:prstGeom prst="rect">
            <a:avLst/>
          </a:prstGeom>
          <a:solidFill>
            <a:srgbClr val="1C895C"/>
          </a:solidFill>
          <a:ln>
            <a:solidFill>
              <a:srgbClr val="1C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466578"/>
            <a:ext cx="4937759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0D365B"/>
                </a:solidFill>
                <a:latin typeface="Aptos"/>
              </a:rPr>
              <a:t>Possible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851" y="1952292"/>
            <a:ext cx="4937759" cy="1527048"/>
          </a:xfrm>
          <a:prstGeom prst="rect">
            <a:avLst/>
          </a:prstGeom>
          <a:noFill/>
        </p:spPr>
        <p:txBody>
          <a:bodyPr wrap="square" lIns="54864" rIns="45720" b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rPr dirty="0"/>
              <a:t>Calculate available beds from room capacity and occupancy.</a:t>
            </a:r>
          </a:p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rPr dirty="0"/>
              <a:t>Add a room-allocation date and student check-in/check-out.</a:t>
            </a:r>
          </a:p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rPr dirty="0"/>
              <a:t>Prevent duplicate monthly payment records per student.</a:t>
            </a:r>
          </a:p>
          <a:p>
            <a:pPr>
              <a:spcAft>
                <a:spcPts val="600"/>
              </a:spcAft>
              <a:defRPr sz="1400">
                <a:solidFill>
                  <a:srgbClr val="263442"/>
                </a:solidFill>
                <a:latin typeface="Aptos"/>
              </a:defRPr>
            </a:pPr>
            <a:r>
              <a:rPr dirty="0"/>
              <a:t>Add stored procedures, triggers and a web-based interface.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6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58092" y="2755582"/>
            <a:ext cx="5696712" cy="9417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5400" b="1" dirty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1032</Words>
  <Application>Microsoft Office PowerPoint</Application>
  <PresentationFormat>Widescreen</PresentationFormat>
  <Paragraphs>278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K.RAMANA</dc:creator>
  <cp:keywords/>
  <dc:description>generated using python-pptx</dc:description>
  <cp:lastModifiedBy>K RAMANA</cp:lastModifiedBy>
  <cp:revision>3</cp:revision>
  <dcterms:created xsi:type="dcterms:W3CDTF">2013-01-27T09:14:16Z</dcterms:created>
  <dcterms:modified xsi:type="dcterms:W3CDTF">2026-10-16T13:46:53Z</dcterms:modified>
  <cp:category/>
</cp:coreProperties>
</file>